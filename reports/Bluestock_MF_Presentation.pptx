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Fund Category Distribution (%)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C0-4954-9458-7A477331C5C2}"/>
              </c:ext>
            </c:extLst>
          </c:dPt>
          <c:dPt>
            <c:idx val="1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C0-4954-9458-7A477331C5C2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C0-4954-9458-7A477331C5C2}"/>
              </c:ext>
            </c:extLst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BC0-4954-9458-7A477331C5C2}"/>
              </c:ext>
            </c:extLst>
          </c:dPt>
          <c:dPt>
            <c:idx val="4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BC0-4954-9458-7A477331C5C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C0-4954-9458-7A477331C5C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BC0-4954-9458-7A477331C5C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BC0-4954-9458-7A477331C5C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BC0-4954-9458-7A477331C5C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BC0-4954-9458-7A477331C5C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Equity</c:v>
                </c:pt>
                <c:pt idx="1">
                  <c:v>Debt</c:v>
                </c:pt>
                <c:pt idx="2">
                  <c:v>Hybrid</c:v>
                </c:pt>
                <c:pt idx="3">
                  <c:v>ETF/Index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24</c:v>
                </c:pt>
                <c:pt idx="2">
                  <c:v>18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BC0-4954-9458-7A477331C5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Investor Age Group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55+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1240</c:v>
                </c:pt>
                <c:pt idx="1">
                  <c:v>3180</c:v>
                </c:pt>
                <c:pt idx="2">
                  <c:v>2950</c:v>
                </c:pt>
                <c:pt idx="3">
                  <c:v>1820</c:v>
                </c:pt>
                <c:pt idx="4">
                  <c:v>810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7F-4A16-870F-AD2F604CED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Monthly SIP Inflow (₹ Crore)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(₹ Cr)</c:v>
                </c:pt>
              </c:strCache>
            </c:strRef>
          </c:tx>
          <c:spPr>
            <a:ln w="31750" cap="flat">
              <a:solidFill>
                <a:srgbClr val="4E9AF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E9AF1"/>
              </a:solidFill>
              <a:ln w="9525" cap="flat">
                <a:solidFill>
                  <a:srgbClr val="4E9AF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Jan-22</c:v>
                </c:pt>
                <c:pt idx="1">
                  <c:v>Jul-22</c:v>
                </c:pt>
                <c:pt idx="2">
                  <c:v>Jan-23</c:v>
                </c:pt>
                <c:pt idx="3">
                  <c:v>Jul-23</c:v>
                </c:pt>
                <c:pt idx="4">
                  <c:v>Jan-24</c:v>
                </c:pt>
                <c:pt idx="5">
                  <c:v>Jul-24</c:v>
                </c:pt>
                <c:pt idx="6">
                  <c:v>Jan-25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11517</c:v>
                </c:pt>
                <c:pt idx="1">
                  <c:v>12694</c:v>
                </c:pt>
                <c:pt idx="2">
                  <c:v>13856</c:v>
                </c:pt>
                <c:pt idx="3">
                  <c:v>15245</c:v>
                </c:pt>
                <c:pt idx="4">
                  <c:v>18838</c:v>
                </c:pt>
                <c:pt idx="5">
                  <c:v>21262</c:v>
                </c:pt>
                <c:pt idx="6">
                  <c:v>25323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6CB-4D7C-9AE4-B9D488F163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00000"/>
                </a:solidFill>
                <a:latin typeface="Arial"/>
              </a:rPr>
              <a:t>Top Funds — 5-Year CAGR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5-Year Return (%)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555-41A1-BBE7-B2D2CB43E5D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555-41A1-BBE7-B2D2CB43E5D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555-41A1-BBE7-B2D2CB43E5D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555-41A1-BBE7-B2D2CB43E5D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555-41A1-BBE7-B2D2CB43E5D9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555-41A1-BBE7-B2D2CB43E5D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Nippon Small Cap</c:v>
                </c:pt>
                <c:pt idx="1">
                  <c:v>HDFC Mid-Cap</c:v>
                </c:pt>
                <c:pt idx="2">
                  <c:v>SBI Small Cap</c:v>
                </c:pt>
                <c:pt idx="3">
                  <c:v>ICICI Mid</c:v>
                </c:pt>
                <c:pt idx="4">
                  <c:v>Axis Flexi</c:v>
                </c:pt>
                <c:pt idx="5">
                  <c:v>Nifty 50 Index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28.4</c:v>
                </c:pt>
                <c:pt idx="1">
                  <c:v>25.1</c:v>
                </c:pt>
                <c:pt idx="2">
                  <c:v>23.8</c:v>
                </c:pt>
                <c:pt idx="3">
                  <c:v>22.5</c:v>
                </c:pt>
                <c:pt idx="4">
                  <c:v>19.3</c:v>
                </c:pt>
                <c:pt idx="5">
                  <c:v>14.6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555-41A1-BBE7-B2D2CB43E5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Alpha vs Beta — Top Funds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SBI Bluechip D</c:v>
                </c:pt>
                <c:pt idx="1">
                  <c:v>HDFC Short Term</c:v>
                </c:pt>
                <c:pt idx="2">
                  <c:v>ICICI Liquid</c:v>
                </c:pt>
                <c:pt idx="3">
                  <c:v>Nippon ETF</c:v>
                </c:pt>
                <c:pt idx="4">
                  <c:v>SBI Gilt Regular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1.78</c:v>
                </c:pt>
                <c:pt idx="1">
                  <c:v>1.98</c:v>
                </c:pt>
                <c:pt idx="2">
                  <c:v>1.85</c:v>
                </c:pt>
                <c:pt idx="3">
                  <c:v>1.8</c:v>
                </c:pt>
                <c:pt idx="4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1D-45B7-BE0C-E8449A8CAB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Beta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SBI Bluechip D</c:v>
                </c:pt>
                <c:pt idx="1">
                  <c:v>HDFC Short Term</c:v>
                </c:pt>
                <c:pt idx="2">
                  <c:v>ICICI Liquid</c:v>
                </c:pt>
                <c:pt idx="3">
                  <c:v>Nippon ETF</c:v>
                </c:pt>
                <c:pt idx="4">
                  <c:v>SBI Gilt Regular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0.87</c:v>
                </c:pt>
                <c:pt idx="1">
                  <c:v>0.44</c:v>
                </c:pt>
                <c:pt idx="2">
                  <c:v>0.26</c:v>
                </c:pt>
                <c:pt idx="3">
                  <c:v>1.04</c:v>
                </c:pt>
                <c:pt idx="4">
                  <c:v>0.22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1D-45B7-BE0C-E8449A8CAB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91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team and the project scope: 7-day capstone building a full analytics pipeline for Indian mutual funds.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problem: 7,000+ mutual funds, fragmented data, no single platform. Our capstone solves this with a production-quality ETL + analytics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datasets sourced from AMFI, SEBI data portals, and synthetic transaction generation. Combined dataset spans 2022–2025.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fully automated: raw CSVs land in data/raw, the ETL normalises and loads to SQLite, and downstream notebooks + Power BI connect to that single source of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on 10,000 investor transactions reveals young working professionals (26–45) as the primary investor base. Equity dominates by count but Debt by average ticket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SIP trend analysis: India's monthly SIP inflows doubled in 3 years. This reflects increased financial awareness and digital adoption post-COVID.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Small-cap funds dominate 5-year CAGR, but investors need risk-adjusted context. Sharpe ratio tells a more complete story — SBI Bluechip Direct leads on risk-adjusted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High-alpha funds often have lower beta (debt/gilt funds). Equity funds have alpha close to benchmark. Investors should balance alpha generation with beta-controlled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BI dashboard has 4 pages with slicers for Category, AMC, Risk Grade, and Date Range. Each page has at least 2 interactive filters as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recommender page is the flagship feature: investor inputs their risk tolerance and time horizon, and the dashboard returns the top 3 matched funds with comparison visuals.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6 findings are directly supported by the data. Point 3 and 5 are actionable recommendations for retail investors. Point 6 covers technical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summary of all 7 deliverables completed. Invite questions on ETL design, risk metrics, or the recommender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chithra-sys/bluestock_mf_capstone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2C4A8C">
              <a:alpha val="40000"/>
            </a:srgbClr>
          </a:solidFill>
          <a:ln w="12700">
            <a:solidFill>
              <a:srgbClr val="2C4A8C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4E9AF1">
              <a:alpha val="25000"/>
            </a:srgbClr>
          </a:solidFill>
          <a:ln w="12700">
            <a:solidFill>
              <a:srgbClr val="4E9AF1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ADCFC"/>
                </a:solidFill>
              </a:rPr>
              <a:t>BLUESTOCK FINTECH  ·  CAPSTONE PROJECT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ETL Pipeline  ·  EDA  ·  Performance Metrics  ·  Interactive Dashboard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286000" cy="4572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240" y="4453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BY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SUCHITHRA S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INTERN ID:BFDA76968</a:t>
            </a:r>
          </a:p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s</a:t>
            </a:r>
            <a:r>
              <a:rPr lang="en-US" sz="1200" b="1">
                <a:solidFill>
                  <a:schemeClr val="bg1"/>
                </a:solidFill>
              </a:rPr>
              <a:t>uchithra</a:t>
            </a:r>
            <a:r>
              <a:rPr lang="en-US" sz="1200" b="1" dirty="0">
                <a:solidFill>
                  <a:schemeClr val="bg1"/>
                </a:solidFill>
              </a:rPr>
              <a:t>.s.work@gmail.com</a:t>
            </a:r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08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E9AF1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Indian retail investors lack unified tools to analyse mutual fund performance across thousands of schemes.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</a:rPr>
              <a:t>Data is scattered across SEBI, AMFI, and fund house portals — making comparison, risk assessment, and recommendation nearly impossible without technical expertise.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32588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508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OUR 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74920" y="196596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</a:rPr>
              <a:t>Build an end-to-end analytics platform that: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Ingests 10 datasets (NAV, AUM, SIP, transactions, benchmarks)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Stores data in a normalised SQLite database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Computes CAGR, Sharpe, Beta, VaR, Max Drawdown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Surfaces insights via Power BI dashboard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</a:rPr>
              <a:t>Recommends funds based on investor risk profile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3258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258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Fund Master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98424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7,400+ schemes with category, AMC, risk grade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20240" y="123444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13258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3258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93392" y="164592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NAV History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93392" y="198424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Daily NAV time-series, 3+ years of 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66160" y="123444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39312" y="13258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13258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39312" y="164592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AUM by Fund House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39312" y="198424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Monthly AUM aggregated by AMC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12080" y="123444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85232" y="13258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13258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85232" y="164592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SIP Inflows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85232" y="198424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Monthly SIP inflow (₹ Crore) &amp; account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0" y="123444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931152" y="132588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13258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31152" y="164592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Category Inflows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31152" y="198424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Equity / Debt / Hybrid net flow trends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7889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28803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" y="320040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Folio Count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" y="35387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Industry-level investor count by category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920240" y="27889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993392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28803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320040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Scheme Performance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93392" y="35387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1yr / 3yr / 5yr returns, Sharpe, Alpha, Beta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566160" y="27889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39312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28803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39312" y="320040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Investor Transactions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639312" y="35387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10K synthetic transactions with demographics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212080" y="27889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285232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85232" y="28803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285232" y="320040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Portfolio Holdings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85232" y="35387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Equity holdings for top schemes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58000" y="2788920"/>
            <a:ext cx="1572768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31152" y="2880360"/>
            <a:ext cx="384048" cy="27432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31152" y="288036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D10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931152" y="3200400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Benchmark Indices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31152" y="3538728"/>
            <a:ext cx="1426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Nifty 50, Nifty 500, BSE Sensex NAV series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6459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75564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Raw CSVs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&amp; Live NAV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AMFI 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+ mfapi.in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691640" y="2336292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901952" y="21899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84832" y="16459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75564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ETL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Pipeline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76272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etl_pipeline.py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clean + validate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47872" y="2336292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758184" y="21899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41064" y="16459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41064" y="175564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SQLite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32504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bluestock_mf.db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6 normalised tables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04104" y="2336292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5614416" y="21899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97296" y="16459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97296" y="175564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Analytics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Notebooks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88736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EDA · Performance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Advanced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60336" y="2336292"/>
            <a:ext cx="34747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470648" y="218998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53528" y="16459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53528" y="1755648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Power BI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44968" y="242316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4 pages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20+ visuals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761"/>
                </a:solidFill>
              </a:rPr>
              <a:t>Python 3.11   ·   Pandas / NumPy   ·   SQLite3   ·   Matplotlib / Seaborn   ·   Power BI Desktop   ·   mfapi.in   ·   Git + GitHub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INVESTOR &amp; FUND DEMOGRAPHICS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88720"/>
          <a:ext cx="38404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572000" y="1188720"/>
          <a:ext cx="4206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160520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4251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📊  Key Insight: 26–45 age cohort drives 61% of investment volume. Equity funds dominate AUM (42%), with Debt at 24%.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SIP GROWTH &amp; NAV TRENDS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88720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34440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1280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₹25,323 Cr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989320" y="1691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Peak SIP Inflow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(Jan 2025)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2194560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89320" y="2240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89320" y="26517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3-Year SIP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Growth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3154680"/>
            <a:ext cx="3017520" cy="841248"/>
          </a:xfrm>
          <a:prstGeom prst="roundRect">
            <a:avLst>
              <a:gd name="adj" fmla="val 760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8932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 Cr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89320" y="3611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Active SIP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Accounts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4160520"/>
            <a:ext cx="8595360" cy="6858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4251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📈  SIP inflows grew 120% from ₹11,517 Cr (Jan 2022) to ₹25,323 Cr (Jan 2025) — confirming rising retail participation in Indian equity markets.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RISK &amp; RETURN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8872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234440"/>
            <a:ext cx="297180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07608" y="12893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Best Sharpe Ratio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07608" y="14904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▲  2.41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007608" y="16642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9AF1"/>
                </a:solidFill>
              </a:rPr>
              <a:t>SBI Bluechip Direct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852160" y="1984248"/>
            <a:ext cx="297180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07608" y="203911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Lowest Max Drawdown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07608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▼  -8.2%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07608" y="24140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9AF1"/>
                </a:solidFill>
              </a:rPr>
              <a:t>HDFC Short Term Debt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52160" y="2734056"/>
            <a:ext cx="297180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07608" y="2788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Best VaR (95%)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07608" y="2990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◆  -0.84%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007608" y="31638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9AF1"/>
                </a:solidFill>
              </a:rPr>
              <a:t>ICICI Pru Liquid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52160" y="3483864"/>
            <a:ext cx="2971800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07608" y="35387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Best Alpha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07608" y="37398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★  1.98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007608" y="39136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E9AF1"/>
                </a:solidFill>
              </a:rPr>
              <a:t>HDFC Short Term Debt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 — ALPHA, BETA &amp; VaR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18872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188720"/>
            <a:ext cx="2971800" cy="292608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16752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</a:rPr>
              <a:t>RISK METRICS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16752" y="1691640"/>
            <a:ext cx="2697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E9AF1"/>
                </a:solidFill>
              </a:rPr>
              <a:t>Value at Risk (95%)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Max daily loss at 95% confidence. Range: -0.84% (liquid) to -3.2% (small-cap).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E9AF1"/>
                </a:solidFill>
              </a:rPr>
              <a:t>Conditional VaR (CVaR)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Expected loss beyond VaR. Small-cap funds show CVaR of -4.8%.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 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E9AF1"/>
                </a:solidFill>
              </a:rPr>
              <a:t>Beta Insight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Debt funds (Beta &lt; 0.5) are market-neutral. Equity funds (Beta ~1.0) track Nifty closely.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OVERVIEW &amp;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420624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Page 1: Risk Analysis Overview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1" y="1707466"/>
            <a:ext cx="4097214" cy="2178733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285371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✓ Portfolio-wide risk overview using </a:t>
            </a:r>
            <a:r>
              <a:rPr lang="en-IN" sz="1050" dirty="0" err="1"/>
              <a:t>VaR</a:t>
            </a:r>
            <a:r>
              <a:rPr lang="en-IN" sz="1050" dirty="0"/>
              <a:t> and CVaR metrics</a:t>
            </a:r>
          </a:p>
          <a:p>
            <a:r>
              <a:rPr lang="en-IN" sz="1050" dirty="0"/>
              <a:t>✓ Fund-wise comparison of downside risk exposure</a:t>
            </a:r>
          </a:p>
          <a:p>
            <a:r>
              <a:rPr lang="en-IN" sz="1050" dirty="0"/>
              <a:t>✓ Summary of mutual funds included in the analysis</a:t>
            </a:r>
          </a:p>
          <a:p>
            <a:r>
              <a:rPr lang="en-IN" sz="1050" dirty="0"/>
              <a:t>✓ Quick insights for portfolio risk assessment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34440"/>
            <a:ext cx="420624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2984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Page 2: Fund Performance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4117" y="1783080"/>
            <a:ext cx="4065563" cy="1888588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[ Dashboard Visual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4117" y="4148211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900" dirty="0"/>
              <a:t>✓ Average Alpha indicates positive excess returns generated by mutual fund schemes.</a:t>
            </a:r>
          </a:p>
          <a:p>
            <a:r>
              <a:rPr lang="en-IN" sz="900" dirty="0"/>
              <a:t>✓ Average Beta measures market sensitivity and helps assess fund volatility.</a:t>
            </a:r>
          </a:p>
          <a:p>
            <a:r>
              <a:rPr lang="en-IN" sz="900" dirty="0"/>
              <a:t>✓ Alpha vs Beta scatter analysis identifies funds with strong performance and controlled risk.</a:t>
            </a:r>
          </a:p>
          <a:p>
            <a:r>
              <a:rPr lang="en-IN" sz="900" dirty="0"/>
              <a:t>✓ Fund Performance Summary table enables comparison of Alpha and Beta metrics across 40 mutual fund schemes.</a:t>
            </a:r>
          </a:p>
          <a:p>
            <a:pPr marL="0" indent="0">
              <a:buNone/>
            </a:pPr>
            <a:endParaRPr lang="en-US" sz="10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E06E5A4-25C5-531C-88A7-6D8DE0142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35820"/>
            <a:ext cx="4097215" cy="217324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8BA1207-D27A-6062-3ADC-50AD30653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802" y="1764793"/>
            <a:ext cx="4026877" cy="19068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RISK &amp; RECOMMENDATION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25730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48156"/>
            <a:ext cx="420624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FFFFFF"/>
                </a:solidFill>
              </a:rPr>
              <a:t>Page 3: Fund Recommender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3931920" cy="2224102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255125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1A1A2E"/>
              </a:solidFill>
            </a:endParaRPr>
          </a:p>
          <a:p>
            <a:r>
              <a:rPr lang="en-IN" sz="1050" dirty="0"/>
              <a:t>✓ Ranking of mutual funds based on fund scores</a:t>
            </a:r>
          </a:p>
          <a:p>
            <a:r>
              <a:rPr lang="en-IN" sz="1050" dirty="0"/>
              <a:t>✓ Identification of top recommended investment options</a:t>
            </a:r>
          </a:p>
          <a:p>
            <a:r>
              <a:rPr lang="en-IN" sz="1050" dirty="0"/>
              <a:t>✓ Comparative analysis of fund performance metrics</a:t>
            </a:r>
          </a:p>
          <a:p>
            <a:r>
              <a:rPr lang="en-IN" sz="1050" dirty="0"/>
              <a:t>✓ Supports data-driven investment decision making</a:t>
            </a:r>
          </a:p>
          <a:p>
            <a:pPr marL="0" indent="0">
              <a:buNone/>
            </a:pPr>
            <a:endParaRPr lang="en-US" sz="1050" dirty="0">
              <a:solidFill>
                <a:srgbClr val="1A1A2E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754880" y="1234440"/>
            <a:ext cx="4206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34440"/>
            <a:ext cx="42062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29844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/>
              <a:t>Page 4: </a:t>
            </a:r>
            <a:r>
              <a:rPr lang="en-IN" sz="1100" b="1" dirty="0"/>
              <a:t>Investment Insights Dashboard</a:t>
            </a:r>
            <a:endParaRPr lang="en-US" sz="1100" b="1" dirty="0"/>
          </a:p>
        </p:txBody>
      </p:sp>
      <p:sp>
        <p:nvSpPr>
          <p:cNvPr id="16" name="Shape 14"/>
          <p:cNvSpPr/>
          <p:nvPr/>
        </p:nvSpPr>
        <p:spPr>
          <a:xfrm>
            <a:off x="4892040" y="1764792"/>
            <a:ext cx="3931920" cy="2242390"/>
          </a:xfrm>
          <a:prstGeom prst="roundRect">
            <a:avLst>
              <a:gd name="adj" fmla="val 3333"/>
            </a:avLst>
          </a:prstGeom>
          <a:solidFill>
            <a:srgbClr val="F4F7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19" y="4313152"/>
            <a:ext cx="50643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050" dirty="0"/>
              <a:t>✓ Categorizes mutual funds into Low, Medium, and High Risk groups</a:t>
            </a:r>
          </a:p>
          <a:p>
            <a:r>
              <a:rPr lang="en-IN" sz="1050" dirty="0"/>
              <a:t>✓ Identifies the best investment opportunity based on fund score</a:t>
            </a:r>
          </a:p>
          <a:p>
            <a:r>
              <a:rPr lang="en-IN" sz="1050" dirty="0"/>
              <a:t>✓ Evaluates the relationship between risk and expected reward</a:t>
            </a:r>
          </a:p>
          <a:p>
            <a:r>
              <a:rPr lang="en-IN" sz="1050" dirty="0"/>
              <a:t>✓ Supports strategic portfolio selection using data-driven insights</a:t>
            </a:r>
          </a:p>
          <a:p>
            <a:pPr marL="0" indent="0">
              <a:buNone/>
            </a:pPr>
            <a:endParaRPr lang="en-US" sz="10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8CC8F70-80FB-B3E5-43FE-78FD8B268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85642"/>
            <a:ext cx="4051786" cy="22215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96FFF18-880C-A1EE-19EA-C673132A6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764792"/>
            <a:ext cx="3886200" cy="22423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&amp;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060"/>
          </a:solidFill>
          <a:ln w="12700">
            <a:solidFill>
              <a:srgbClr val="3A4F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115568"/>
            <a:ext cx="384048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15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86968" y="1143000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SIP is the growth engine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" y="1536192"/>
            <a:ext cx="24963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Monthly SIP inflows grew 120% in 3 years. SIP-based investors show 2.3× better cohort retention than lump-sum investors.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060"/>
          </a:solidFill>
          <a:ln w="12700">
            <a:solidFill>
              <a:srgbClr val="3A4F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1556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115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67328" y="1143000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Sharpe trumps raw return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0128" y="1536192"/>
            <a:ext cx="24963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Direct plan debt funds (Sharpe 1.8–2.4) outperform small-cap funds on risk-adjusted basis despite lower absolute returns.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060"/>
          </a:solidFill>
          <a:ln w="12700">
            <a:solidFill>
              <a:srgbClr val="3A4F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11556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115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47688" y="1143000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Category allocation matters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90488" y="1536192"/>
            <a:ext cx="24963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 60:30:10 (Equity:Debt:Hybrid) portfolio achieves Sharpe &gt; 1.5 with max drawdown below -12% — balanced for retail investors.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69748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060"/>
          </a:solidFill>
          <a:ln w="12700">
            <a:solidFill>
              <a:srgbClr val="3A4F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80720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6968" y="2834640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Direct plans dominate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" y="3227832"/>
            <a:ext cx="24963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Direct plans consistently show 0.5–1.0% higher alpha than Regular plans. Over 10 years this compounds to 8–15% additional corpus.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69748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060"/>
          </a:solidFill>
          <a:ln w="12700">
            <a:solidFill>
              <a:srgbClr val="3A4F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280720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67328" y="2834640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Young investors under-diversify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10128" y="3227832"/>
            <a:ext cx="24963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18–35 age group concentrates 72% of investments in equity; adding 20% debt exposure would reduce portfolio VaR by ~35%.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269748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243060"/>
          </a:solidFill>
          <a:ln w="12700">
            <a:solidFill>
              <a:srgbClr val="3A4F8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2807208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47688" y="2834640"/>
            <a:ext cx="2039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Pipeline is production-ready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190488" y="3227832"/>
            <a:ext cx="24963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ETL runs end-to-end in &lt; 90 seconds. Live NAV auto-updates via mfapi.in. Schema handles 7,400+ schemes with no manual steps.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5486400" cy="5486400"/>
          </a:xfrm>
          <a:prstGeom prst="ellipse">
            <a:avLst/>
          </a:prstGeom>
          <a:solidFill>
            <a:srgbClr val="2C4A8C">
              <a:alpha val="35000"/>
            </a:srgbClr>
          </a:solidFill>
          <a:ln w="12700">
            <a:solidFill>
              <a:srgbClr val="2C4A8C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4E9AF1">
              <a:alpha val="20000"/>
            </a:srgbClr>
          </a:solidFill>
          <a:ln w="12700">
            <a:solidFill>
              <a:srgbClr val="4E9AF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743200" cy="45720"/>
          </a:xfrm>
          <a:prstGeom prst="rect">
            <a:avLst/>
          </a:prstGeom>
          <a:solidFill>
            <a:srgbClr val="4E9AF1"/>
          </a:solidFill>
          <a:ln w="12700">
            <a:solidFill>
              <a:srgbClr val="4E9A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Bluestock MF Capstone  |  June 2026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hlinkClick r:id="rId3"/>
              </a:rPr>
              <a:t>|https://github.com/suchithra-sys/</a:t>
            </a:r>
            <a:r>
              <a:rPr lang="en-US" sz="1300" dirty="0" err="1">
                <a:solidFill>
                  <a:srgbClr val="CADCFC"/>
                </a:solidFill>
                <a:hlinkClick r:id="rId3"/>
              </a:rPr>
              <a:t>bluestock_mf_capstone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1312</Words>
  <Application>Microsoft Office PowerPoint</Application>
  <PresentationFormat>On-screen Show (16:9)</PresentationFormat>
  <Paragraphs>189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</dc:title>
  <dc:subject>PptxGenJS Presentation</dc:subject>
  <dc:creator>Bluestock MF Analytics Team</dc:creator>
  <cp:lastModifiedBy>s.suchithrasrinivasan24@outlook.com</cp:lastModifiedBy>
  <cp:revision>5</cp:revision>
  <dcterms:created xsi:type="dcterms:W3CDTF">2026-06-13T06:02:43Z</dcterms:created>
  <dcterms:modified xsi:type="dcterms:W3CDTF">2026-06-14T12:54:21Z</dcterms:modified>
</cp:coreProperties>
</file>